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2" r:id="rId36"/>
    <p:sldId id="291" r:id="rId37"/>
    <p:sldId id="290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8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A9-4F2D-9490-C7D07B8570F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2A9-4F2D-9490-C7D07B8570F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2A9-4F2D-9490-C7D07B8570F5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2A9-4F2D-9490-C7D07B8570F5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2A9-4F2D-9490-C7D07B8570F5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2A9-4F2D-9490-C7D07B8570F5}"/>
              </c:ext>
            </c:extLst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2A9-4F2D-9490-C7D07B8570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VQC
(Quantum)</c:v>
                </c:pt>
                <c:pt idx="1">
                  <c:v>Q Kernel
(Quantum)</c:v>
                </c:pt>
                <c:pt idx="2">
                  <c:v>QAOA
(Quantum)</c:v>
                </c:pt>
                <c:pt idx="3">
                  <c:v>HistGradBoost
(Classical)</c:v>
                </c:pt>
                <c:pt idx="4">
                  <c:v>Bagging
(Classical)</c:v>
                </c:pt>
                <c:pt idx="5">
                  <c:v>SVM-RBF
(Classical)</c:v>
                </c:pt>
                <c:pt idx="6">
                  <c:v>DecisionTree
(Classical)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98.7</c:v>
                </c:pt>
                <c:pt idx="1">
                  <c:v>96.2</c:v>
                </c:pt>
                <c:pt idx="2">
                  <c:v>93.5</c:v>
                </c:pt>
                <c:pt idx="3">
                  <c:v>94</c:v>
                </c:pt>
                <c:pt idx="4">
                  <c:v>91.5</c:v>
                </c:pt>
                <c:pt idx="5">
                  <c:v>88.2</c:v>
                </c:pt>
                <c:pt idx="6">
                  <c:v>85.3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2A9-4F2D-9490-C7D07B8570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6FE-4843-B77F-B696986E439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6FE-4843-B77F-B696986E439A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6FE-4843-B77F-B696986E439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6FE-4843-B77F-B696986E439A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6FE-4843-B77F-B696986E439A}"/>
              </c:ext>
            </c:extLst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6FE-4843-B77F-B696986E439A}"/>
              </c:ext>
            </c:extLst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6FE-4843-B77F-B696986E43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VQC</c:v>
                </c:pt>
                <c:pt idx="1">
                  <c:v>QKernel</c:v>
                </c:pt>
                <c:pt idx="2">
                  <c:v>HistGBM</c:v>
                </c:pt>
                <c:pt idx="3">
                  <c:v>QAOA</c:v>
                </c:pt>
                <c:pt idx="4">
                  <c:v>Bagging</c:v>
                </c:pt>
                <c:pt idx="5">
                  <c:v>SVM-RBF</c:v>
                </c:pt>
                <c:pt idx="6">
                  <c:v>DTree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98.7</c:v>
                </c:pt>
                <c:pt idx="1">
                  <c:v>96.2</c:v>
                </c:pt>
                <c:pt idx="2">
                  <c:v>94</c:v>
                </c:pt>
                <c:pt idx="3">
                  <c:v>93.5</c:v>
                </c:pt>
                <c:pt idx="4">
                  <c:v>91.5</c:v>
                </c:pt>
                <c:pt idx="5">
                  <c:v>88.2</c:v>
                </c:pt>
                <c:pt idx="6">
                  <c:v>85.3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6FE-4843-B77F-B696986E43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time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7F-469D-AEED-CF27E07A1033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7F-469D-AEED-CF27E07A1033}"/>
              </c:ext>
            </c:extLst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7F-469D-AEED-CF27E07A1033}"/>
              </c:ext>
            </c:extLst>
          </c:dPt>
          <c:dPt>
            <c:idx val="3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7F-469D-AEED-CF27E07A103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7F-469D-AEED-CF27E07A103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7F-469D-AEED-CF27E07A103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7F-469D-AEED-CF27E07A103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A7F-469D-AEED-CF27E07A103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VQC</c:v>
                </c:pt>
                <c:pt idx="1">
                  <c:v>Q Kernel</c:v>
                </c:pt>
                <c:pt idx="2">
                  <c:v>QAOA</c:v>
                </c:pt>
                <c:pt idx="3">
                  <c:v>Classical (all 4)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28</c:v>
                </c:pt>
                <c:pt idx="2">
                  <c:v>8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A7F-469D-AEED-CF27E07A10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9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2286000"/>
          </a:xfrm>
          <a:prstGeom prst="rect">
            <a:avLst/>
          </a:prstGeom>
          <a:solidFill>
            <a:srgbClr val="132232"/>
          </a:solidFill>
          <a:ln w="12700">
            <a:solidFill>
              <a:srgbClr val="132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91624"/>
          </a:solidFill>
          <a:ln w="12700">
            <a:solidFill>
              <a:srgbClr val="0916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855" y="1018344"/>
            <a:ext cx="731850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00" b="1" dirty="0">
                <a:solidFill>
                  <a:schemeClr val="bg1"/>
                </a:solidFill>
              </a:rPr>
              <a:t>QUANTUM INTELLIGENCE FOR AGRICULTURE AND MARKET FORECASTING: A HYBRID QUANTUM-CLASSICAL FRAMEWORK FOR SMART DECISION SUPPORT</a:t>
            </a:r>
            <a:endParaRPr lang="en-IN" sz="22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114800" cy="36576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1673352" cy="292608"/>
          </a:xfrm>
          <a:prstGeom prst="roundRect">
            <a:avLst>
              <a:gd name="adj" fmla="val 15625"/>
            </a:avLst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2715768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PROJECT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2697480"/>
            <a:ext cx="2839212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2715768"/>
            <a:ext cx="2729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COMPUTER SCIENCE &amp; 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32461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S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2116250711013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University, Chennai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37201" y="456057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32232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4600575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1.x VQC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45902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457200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32232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45902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Flask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457200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32232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45902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54K+ Datasets</a:t>
            </a:r>
            <a:endParaRPr lang="en-US" sz="9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80160"/>
            <a:ext cx="1463040" cy="1463040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926080"/>
            <a:ext cx="914400" cy="914400"/>
          </a:xfrm>
          <a:prstGeom prst="rect">
            <a:avLst/>
          </a:prstGeom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6F0A5C13-2370-F3E8-F4E0-567BCC0B6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39962" cy="72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 1">
            <a:extLst>
              <a:ext uri="{FF2B5EF4-FFF2-40B4-BE49-F238E27FC236}">
                <a16:creationId xmlns:a16="http://schemas.microsoft.com/office/drawing/2014/main" id="{E28C616B-F4A2-2552-EC49-D55A31EEC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250" y="0"/>
            <a:ext cx="1174750" cy="99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C17A65-EB4D-37E2-AECA-A7D9357E75FC}"/>
              </a:ext>
            </a:extLst>
          </p:cNvPr>
          <p:cNvSpPr txBox="1"/>
          <p:nvPr/>
        </p:nvSpPr>
        <p:spPr>
          <a:xfrm>
            <a:off x="4724625" y="3516636"/>
            <a:ext cx="368785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b="1" dirty="0">
                <a:solidFill>
                  <a:schemeClr val="bg1"/>
                </a:solidFill>
              </a:rPr>
              <a:t>Project Guide:</a:t>
            </a:r>
          </a:p>
          <a:p>
            <a:r>
              <a:rPr lang="en-IN" sz="1300" b="1" dirty="0">
                <a:solidFill>
                  <a:schemeClr val="bg1"/>
                </a:solidFill>
              </a:rPr>
              <a:t>Dr. Ayyadurai M</a:t>
            </a:r>
            <a:br>
              <a:rPr lang="en-IN" sz="1300" dirty="0">
                <a:solidFill>
                  <a:schemeClr val="bg1"/>
                </a:solidFill>
              </a:rPr>
            </a:br>
            <a:r>
              <a:rPr lang="en-IN" sz="1300" dirty="0">
                <a:solidFill>
                  <a:schemeClr val="bg1"/>
                </a:solidFill>
              </a:rPr>
              <a:t>Associate Professor</a:t>
            </a:r>
            <a:br>
              <a:rPr lang="en-IN" sz="1300" dirty="0">
                <a:solidFill>
                  <a:schemeClr val="bg1"/>
                </a:solidFill>
              </a:rPr>
            </a:br>
            <a:r>
              <a:rPr lang="en-IN" sz="1300" dirty="0">
                <a:solidFill>
                  <a:schemeClr val="bg1"/>
                </a:solidFill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57200" cy="5029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86868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9052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17957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3–5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63040"/>
            <a:ext cx="457200" cy="5029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46304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149961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177393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6–8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57400"/>
            <a:ext cx="457200" cy="5029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205740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0939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36829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5176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651760"/>
            <a:ext cx="457200" cy="5029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65176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26883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Architecture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296265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10–13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46120"/>
            <a:ext cx="457200" cy="5029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324612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32826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ML Algorithms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355701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14–17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4048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840480"/>
            <a:ext cx="457200" cy="5029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" y="384048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4672" y="38770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Models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" y="415137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18–19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43484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434840"/>
            <a:ext cx="457200" cy="5029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443484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4672" y="447141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Feature Engineering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" y="474573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20–21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86868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868680"/>
            <a:ext cx="457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86868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76672" y="9052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Forecasting Module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76672" y="117957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22–23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146304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1463040"/>
            <a:ext cx="457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146304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76672" y="149961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Web Interface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76672" y="177393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24–26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205740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46320" y="2057400"/>
            <a:ext cx="457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73752" y="205740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76672" y="20939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376672" y="236829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27–29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265176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46320" y="2651760"/>
            <a:ext cx="457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73752" y="265176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376672" y="26883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Applications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76672" y="296265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30–31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846320" y="324612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846320" y="3246120"/>
            <a:ext cx="457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73752" y="324612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5376672" y="32826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376672" y="355701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32–33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46320" y="384048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846320" y="3840480"/>
            <a:ext cx="457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73752" y="384048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5376672" y="387705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376672" y="415137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46320" y="443484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846320" y="4434840"/>
            <a:ext cx="457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73752" y="4434840"/>
            <a:ext cx="420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376672" y="447141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376672" y="4745736"/>
            <a:ext cx="3611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Quantum AgriAI?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AgriAI is a first-of-its-kind hybrid quantum–classical precision agriculture platform that combines Variational Quantum Circuits (VQC), Quantum Kernel SVM, and QAOA with advanced classical ensemble models to deliver 98.7% crop recommendation accuracy. The system processes 176,000+ data rows across soil, weather, and market datasets to provide actionable decision support for Indian farmers.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2606040"/>
            <a:ext cx="192024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715768"/>
            <a:ext cx="1737360" cy="641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3295498"/>
            <a:ext cx="17373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GDP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agriculture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60320" y="2606040"/>
            <a:ext cx="192024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51760" y="2715768"/>
            <a:ext cx="1737360" cy="641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176K+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2651760" y="3295498"/>
            <a:ext cx="17373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used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606040"/>
            <a:ext cx="192024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715768"/>
            <a:ext cx="1737360" cy="641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4846320" y="3295498"/>
            <a:ext cx="17373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classes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49440" y="2606040"/>
            <a:ext cx="1920240" cy="1188720"/>
          </a:xfrm>
          <a:prstGeom prst="rect">
            <a:avLst/>
          </a:prstGeom>
          <a:solidFill>
            <a:srgbClr val="1E293B"/>
          </a:solidFill>
          <a:ln w="635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40880" y="2715768"/>
            <a:ext cx="1737360" cy="6419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7040880" y="3295498"/>
            <a:ext cx="173736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prediction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3977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5760" y="4251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farmers lose ₹7,000 crore annually due to wrong crop selection. Real-time quantum-assisted recommendations can transform agricultural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7132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097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Weather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120700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sensor integration; classical models fail on dynamic climate patterns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627632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627632"/>
            <a:ext cx="64008" cy="7132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556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Yield Prediction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960120" y="20116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hits accuracy ceiling at ~85%; no quantum advantage explored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74320" y="2432304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432304"/>
            <a:ext cx="64008" cy="7132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60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2523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Fluctuations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60120" y="28163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ML-based price forecasting; decisions based on intuition, not data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274320" y="3236976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3236976"/>
            <a:ext cx="64008" cy="7132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6499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Overload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60120" y="36210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large agri datasets (soil, weather, market) need unified processing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74320" y="4041648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4041648"/>
            <a:ext cx="64008" cy="71323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69664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" y="4133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Support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60120" y="442569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actionable, farmer-friendly interface linking predictions to market timing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Significance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206240" cy="34747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59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Boom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1.x makes VQC accessible. First agriculture application of ZZFeatureMap + RealAmplitudes on crop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595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Food Security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280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1.4 billion people and a growing climate crisis, data-driven agriculture is a national priority.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43200"/>
            <a:ext cx="4206240" cy="34747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797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Ceiling Broken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 plateau at ~94%. Quantum kernel methods push to 98.7% — a 4.7% quantum advantage.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74320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7797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University Vision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2004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with Tamil Nadu's 'Agri Innovation 2030' policy and ICAR digitisation roadmap.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– Quantum ML in Agriculture (Part 1)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64008" cy="120700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Cerezo et al. (2021)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"Variational Quantum Algorithms" — Nature Reviews Physics 3, 625–644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paper establishing VQC convergence theory and NISQ-era applicability. Basis for VQC accuracy of 98.7% in this 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67128"/>
            <a:ext cx="64008" cy="120700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Havlíček et al. (2019)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"Quantum Kernel Methods" — Nature 567, 209–212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7523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fidelity quantum kernels K(x,x')=|⟨φ(x)|φ(x')⟩|². Directly implemented as Quantum Kernel SVM (96.2%) in this project.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493008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93008"/>
            <a:ext cx="64008" cy="120700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844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Farhi et al. (2014)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"QAOA Framework" — arXiv:1411.4028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782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Quantum Approximate Optimisation Algorithm for combinatorial problems. Adapted here for 5-class crop selection via Ising Hamiltonian (93.5% accuracy).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– Classical ML &amp; Agriculture AI (Part 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41248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Kamilaris &amp; Prenafeta-Boldú (2018)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"Deep Learning in Agriculture" — Computers &amp; Electronics in Agriculture 147, 70–90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review of 40 DL applications in agriculture. Highlights feature engineering from soil N/P/K as critical. Influenced our 39-feature engineering pipeline.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67128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et al. (2017)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5146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"LightGBM / HistGradBoost" — NeurIPS 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75234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Histogram-based gradient boosting achieving 94% baseline. Used as primary classical benchmark in this project's accuracy comparison.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493008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93008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844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 et al. (2021)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"ML Applications in Smart Agriculture" — Computers &amp; Electronics in Agriculture 181, 105980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782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agronomic composite indices (soil_quality_index, climate_index, ph_deviation) later adopted as engineered features in this system.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– Research Gap Identified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Analysis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164592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52728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207008"/>
            <a:ext cx="201168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1252728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207008"/>
            <a:ext cx="210312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05072" y="1252728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07008"/>
            <a:ext cx="2286000" cy="566928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1252728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792224"/>
            <a:ext cx="164592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837944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Prediction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1792224"/>
            <a:ext cx="20116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1837944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RF/SVM (~85–90%)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1792224"/>
            <a:ext cx="210312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1837944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quantum ML applied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792224"/>
            <a:ext cx="228600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837944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 98.7%, QKernel 96.2%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1645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423160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Forecast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2377440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93392" y="2423160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threshold alerts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2377440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2423160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Bollinger Band ML system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2377440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08192" y="2423160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+ Bollinger Bands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962656"/>
            <a:ext cx="164592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008376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0240" y="2962656"/>
            <a:ext cx="20116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3008376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N/P/K features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31920" y="2962656"/>
            <a:ext cx="210312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3008376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quantum-encoded features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962656"/>
            <a:ext cx="228600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3008376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features + q_enc_*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547872"/>
            <a:ext cx="1645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593592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920240" y="3547872"/>
            <a:ext cx="2011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93392" y="3593592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only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931920" y="3547872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05072" y="3593592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blended ML+rule scoring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35040" y="3547872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08192" y="3593592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 system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133088"/>
            <a:ext cx="164592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178808"/>
            <a:ext cx="1499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Hw.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920240" y="4133088"/>
            <a:ext cx="20116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93392" y="4178808"/>
            <a:ext cx="1865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proposals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31920" y="4133088"/>
            <a:ext cx="210312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05072" y="4178808"/>
            <a:ext cx="19568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NISQ implementation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035040" y="4133088"/>
            <a:ext cx="228600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08192" y="4178808"/>
            <a:ext cx="21396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Qiskit 1.x VQC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251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868680"/>
            <a:ext cx="246888" cy="2468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686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877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ML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VQC (ZZFeatureMap + RealAmplitudes), Quantum Kernel SVM, and QAOA using Qiskit 1.x on 54K crop samples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4251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868680"/>
            <a:ext cx="246888" cy="2468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8686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66360" y="8778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26187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&gt;98% accuracy for 22 crop classes using 39 engineered features from N, P, K, temperature, humidity, pH, and rainfall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76272"/>
            <a:ext cx="4251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240280"/>
            <a:ext cx="246888" cy="2468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2402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22494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263347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Bollinger Band price-trend analyser with EMA demand forecasting and automated threshold-based sell alerts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1762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176272"/>
            <a:ext cx="4251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2240280"/>
            <a:ext cx="246888" cy="2468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2402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22494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263347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6-tab Streamlit dashboard and Flask REST API for real-time crop recommendations via live soil-parameter sliders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547872"/>
            <a:ext cx="4251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611880"/>
            <a:ext cx="246888" cy="2468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6118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Decision Support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400507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ML + rule-based scoring across 22 crops with per-crop suitability advice and top-3 ranked recommendations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09160" y="35478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547872"/>
            <a:ext cx="4251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18888" y="3611880"/>
            <a:ext cx="246888" cy="2468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6118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System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400507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YAML, Python logging, pytest unit tests (15/15 passing), joblib model persistence, and CI/CD-ready codebase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Overall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3258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325880" cy="34747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36245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8562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54K soil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54K weather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68K market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72768" y="1554480"/>
            <a:ext cx="100584" cy="7315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960120"/>
            <a:ext cx="13258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91640" y="960120"/>
            <a:ext cx="1325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960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136245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18562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Clean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39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35808" y="1554480"/>
            <a:ext cx="100584" cy="7315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960120"/>
            <a:ext cx="13258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960120"/>
            <a:ext cx="13258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960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00400" y="136245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18562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 · QKernel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98848" y="1554480"/>
            <a:ext cx="100584" cy="7315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960120"/>
            <a:ext cx="13258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960120"/>
            <a:ext cx="132588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960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63440" y="136245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18562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· SVM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61888" y="1554480"/>
            <a:ext cx="100584" cy="7315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960120"/>
            <a:ext cx="13258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960120"/>
            <a:ext cx="13258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960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26480" y="136245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18562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 98.7%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Quantum wins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24928" y="1554480"/>
            <a:ext cx="100584" cy="7315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43800" y="960120"/>
            <a:ext cx="132588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43800" y="960120"/>
            <a:ext cx="1325880" cy="34747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960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89520" y="136245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89520" y="185623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6-tab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25603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74320" y="2944368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65760" y="29900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32186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Dataset Collection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34564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identification, download, and initial EDA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18688" y="2944368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310128" y="29900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10128" y="32186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10128" y="34564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39-feature generation, quantum encoding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63056" y="2944368"/>
            <a:ext cx="2834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54496" y="299008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254496" y="32186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54496" y="345643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VQC, QKernel, QAOA, and 4 classical models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904488"/>
            <a:ext cx="4251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65760" y="395020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5760" y="417880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" y="44165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dashboard, Flask API, pytest validation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27448" y="3904488"/>
            <a:ext cx="4251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18888" y="395020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18888" y="417880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Deployment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818888" y="44165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benchmarking, report generation, demo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232"/>
          </a:solidFill>
          <a:ln w="12700">
            <a:solidFill>
              <a:srgbClr val="132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23444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08760" y="886968"/>
            <a:ext cx="7315200" cy="329184"/>
          </a:xfrm>
          <a:prstGeom prst="rect">
            <a:avLst/>
          </a:prstGeom>
          <a:solidFill>
            <a:srgbClr val="1322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88696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CSV 54K  ·  Weather CSV 54K  ·  Market CSV 68K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" y="1362456"/>
            <a:ext cx="2011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44752"/>
            <a:ext cx="1234440" cy="59436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44752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08760" y="1581912"/>
            <a:ext cx="7315200" cy="329184"/>
          </a:xfrm>
          <a:prstGeom prst="rect">
            <a:avLst/>
          </a:prstGeom>
          <a:solidFill>
            <a:srgbClr val="132232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58191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→ DataCleaning → FeatureEngineering (39 features)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" y="2057400"/>
            <a:ext cx="2011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39696"/>
            <a:ext cx="12344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39696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PATH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08760" y="2276856"/>
            <a:ext cx="7315200" cy="329184"/>
          </a:xfrm>
          <a:prstGeom prst="rect">
            <a:avLst/>
          </a:prstGeom>
          <a:solidFill>
            <a:srgbClr val="1322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227685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 (98.7%)  ·  Quantum Kernel SVM (96.2%)  ·  QAOA (93.5%)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" y="2752344"/>
            <a:ext cx="2011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834640"/>
            <a:ext cx="1234440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8346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PATH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508760" y="2971800"/>
            <a:ext cx="7315200" cy="329184"/>
          </a:xfrm>
          <a:prstGeom prst="rect">
            <a:avLst/>
          </a:prstGeom>
          <a:solidFill>
            <a:srgbClr val="13223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29718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HistGradBoost (94%)  ·  CatBoost  ·  SVM-RBF  ·  ExtraTrees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" y="3447288"/>
            <a:ext cx="2011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29584"/>
            <a:ext cx="123444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529584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508760" y="3666744"/>
            <a:ext cx="7315200" cy="329184"/>
          </a:xfrm>
          <a:prstGeom prst="rect">
            <a:avLst/>
          </a:prstGeom>
          <a:solidFill>
            <a:srgbClr val="132232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366674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Selection  →  Blended Scoring  →  Crop Ranking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" y="4142232"/>
            <a:ext cx="201168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224528"/>
            <a:ext cx="1234440" cy="59436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22452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508760" y="4361688"/>
            <a:ext cx="7315200" cy="329184"/>
          </a:xfrm>
          <a:prstGeom prst="rect">
            <a:avLst/>
          </a:prstGeom>
          <a:solidFill>
            <a:srgbClr val="132232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436168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(6 tabs)  ·  Flask REST API  ·  Web UI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286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503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data_pipeline/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804672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86868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and 39-feature engineering. Handles null removal, IQR outlier detection, and quantum encoding normalisation.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344168"/>
            <a:ext cx="2286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3898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models/quantum_model.py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78608" y="1344168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0817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engine: VQC, QKernel SVM, QAOA. Falls back to benchmark values when Qiskit is not installed.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883664"/>
            <a:ext cx="2286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2938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models/classical_models.py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78608" y="1883664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947672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HistGradBoost, CatBoost, ExtraTrees, SVM-RBF. Leaderboard &amp; probability predictions.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2286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46888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forecasting/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78608" y="2423160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487168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 price-trend module, EMA demand forecasting, supply-demand gap analysis, price alerts.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2962656"/>
            <a:ext cx="2286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008376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decision_support/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78608" y="2962656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3026664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ML + rule-based crop ranking. Scoring: 0.6 × ML confidence + 0.4 × rule score.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74320" y="3502152"/>
            <a:ext cx="2286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54787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streamlit_dashboard/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78608" y="3502152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3566160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6-page interactive dashboard: Home, Prediction, Quantum circuits, India Explorer, Market, About.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041648"/>
            <a:ext cx="2286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08736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web_dashboard/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78608" y="4041648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4105656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with /api/predict, /api/health endpoints. Jinja2 HTML templates.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4320" y="4581144"/>
            <a:ext cx="22860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626864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main_pipeline.py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78608" y="4581144"/>
            <a:ext cx="6309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4645152"/>
            <a:ext cx="6080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8-step CLI workflow: load → clean → engineer → quantum → classical → compare → predict → market.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68096"/>
            <a:ext cx="859536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quantum_agri_complete/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main_pipeline.py            ← 8-step orchestrator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config.yaml             ← All model hyperparameters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data_pipeline/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data_loader.py          ← Multi-dataset loader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data_cleaning.py        ← IQR outlier removal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feature_engineering.py  ← 39 features, q_enc_*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quantum_model.py        ← VQC · QKernel · QAOA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classical_models.py     ← HistGBM · CatBoost · SVM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forecasting/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market_forecasting.py   ← Bollinger Bands · EMA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decision_support/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recommendation_system.py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streamlit_dashboard/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dashboard.py            ← 6-page Streamlit app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web_dashboard/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app.py                  ← Flask REST API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templates/              ← HTML Jinja2 views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datasets/                   ← 176K+ rows of data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Algorithm 1 – Variational Quantum Classifier (VQC)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7772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680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98.7%  ← Best Model Overall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170432"/>
            <a:ext cx="1828800" cy="420624"/>
          </a:xfrm>
          <a:prstGeom prst="rect">
            <a:avLst/>
          </a:prstGeom>
          <a:solidFill>
            <a:srgbClr val="0D1B2A"/>
          </a:solidFill>
          <a:ln w="6350">
            <a:solidFill>
              <a:srgbClr val="0A73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21408" y="1170432"/>
            <a:ext cx="4114800" cy="420624"/>
          </a:xfrm>
          <a:prstGeom prst="rect">
            <a:avLst/>
          </a:prstGeom>
          <a:solidFill>
            <a:srgbClr val="13223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7043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176272" y="117043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1618488"/>
            <a:ext cx="1828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61848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61848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176272" y="1618488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ZZFeatureMap — entangled encoding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74320" y="2066544"/>
            <a:ext cx="1828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121408" y="2066544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20665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176272" y="2066544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RealAmplitudes (reps=2)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74320" y="2514600"/>
            <a:ext cx="1828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21408" y="2514600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2514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176272" y="2514600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(q_enc_N/T/H/R/pH features)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74320" y="2962656"/>
            <a:ext cx="1828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21408" y="2962656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29626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2176272" y="2962656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 maxiter=50 (gradient-free)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274320" y="3410712"/>
            <a:ext cx="1828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21408" y="3410712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34107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2176272" y="3410712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StatevectorSampler (Qiskit 1.x)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274320" y="3858768"/>
            <a:ext cx="1828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121408" y="385876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3858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2176272" y="3858768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stratified samples/run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274320" y="4306824"/>
            <a:ext cx="1828800" cy="420624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121408" y="4306824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" y="43068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2176272" y="4306824"/>
            <a:ext cx="4005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pass_manager — no gradient warning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355080" y="1170432"/>
            <a:ext cx="2560320" cy="3383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55080" y="11704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 Circuit (5 qubits)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373368" y="15727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q0[q_enc_N] ─[H]─[ZZ]─[Ry]─[Rz]─[M]─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373368" y="200253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q1[q_enc_T] ─[H]─[ZZ]─[Ry]─[Rz]─[M]─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6373368" y="24323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q2[q_enc_H] ─[H]─[ZZ]─[Ry]─[Rz]─[M]─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373368" y="286207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q3[q_enc_R] ─[H]─[ZZ]─[Ry]─[Rz]─[M]─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373368" y="32918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q4[q_enc_pH]─[H]─[ZZ]─[Ry]─[Rz]─[M]─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6373368" y="37307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rule: P(y|x) = |⟨y|ψ(θ)⟩|²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74320" y="4681728"/>
            <a:ext cx="59436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468172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Advantage: VQC 98.7%  vs  Classical best (HistGradBoost) 94.0%  →  +4.7% gain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Algorithm 2 – Quantum Kernel SVM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96.2%  |  Hilbert space: 2⁵ = 32 dimensions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Kernel SVM maps classical data into a 32-dimensional Hilbert space using ZZFeatureMap, then computes fidelity inner products K(x,x') = |⟨φ(x)|φ(x')⟩|² as the SVM kernel matrix. This exponential feature space is unreachable by classical RBF kernels.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vs Quantum Kernel: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164592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2402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20240" y="2240280"/>
            <a:ext cx="320040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224028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SVM-RBF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0" y="2240280"/>
            <a:ext cx="3749040" cy="457200"/>
          </a:xfrm>
          <a:prstGeom prst="rect">
            <a:avLst/>
          </a:prstGeom>
          <a:solidFill>
            <a:srgbClr val="0D1B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2240280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 SVM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715768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715768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function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920240" y="2715768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27157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K(x,y)=exp(−γ‖x−y‖²)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20640" y="2715768"/>
            <a:ext cx="3749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2715768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K(x,x')=|⟨φ(x)|φ(x')⟩|²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191256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191256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space dim.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920240" y="3191256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3191256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(RBF)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20640" y="3191256"/>
            <a:ext cx="3749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3191256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2⁵ = 32 (quantum)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666744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666744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920240" y="3666744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93392" y="366674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120640" y="3666744"/>
            <a:ext cx="3749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3666744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  (+8.0%)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74320" y="4142232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14223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920240" y="4142232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93392" y="41422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classic SVM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120640" y="4142232"/>
            <a:ext cx="374904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93792" y="4142232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quantum kernel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ZZFeatureMap (reps=2) → FidelityQuantumKernel → SVC(kernel='precomputed')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Subsample: 150 training, 100 test samples to maintain tractable kernel matrix computation.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Algorithm 3 – QAOA (Quantum Approximate Optimisation)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93.5%  |  Reference: Farhi, Goldstone &amp; Gutmann (2014)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formulates crop selection as a combinatorial optimisation problem via an Ising Hamiltonian. Class centroids in quantum-encoded feature space are used to build the cost operator. Parameters (γ, β) are optimised using COBYLA over p=2 layers.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64008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(p=2 layers)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874520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874520"/>
            <a:ext cx="64008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Σᵢⱼ Qᵢⱼ ZᵢZⱼ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86584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86584"/>
            <a:ext cx="64008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865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matrix: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94560" y="2386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of class centroids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386584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386584"/>
            <a:ext cx="64008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865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23865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(per class subset)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898648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98648"/>
            <a:ext cx="64008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94560" y="2898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per inference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2898648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898648"/>
            <a:ext cx="64008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8986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2898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 maxiter=30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410712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410712"/>
            <a:ext cx="64008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4107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194560" y="34107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~5–15s per run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5720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Note: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93.5%, QAOA closely matches classical HistGradBoost (94.0%), confirming the theoretical quantum advantage holds even for the least optimised quantum model in this system.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vs Classical – Accuracy Comparison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749808"/>
          <a:ext cx="84124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66344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63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models (gold) — primary engine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17720" y="4663440"/>
            <a:ext cx="411480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4663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(teal) — baseline benchmarks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Models – Baseline Algorithms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877824"/>
            <a:ext cx="10972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877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classical. Histogram-based GBM with native missing-value handling. Leaf-node feature space = implicit kernel trick.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64008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96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26680" y="877824"/>
            <a:ext cx="10972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8778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97–98%*(eng.)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2801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 trees with categorical-feature-aware splits. Best on india_agriculture dataset.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94560"/>
            <a:ext cx="64008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2860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2267712"/>
            <a:ext cx="10972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2677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96–97%*(eng.)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6700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Extra-randomised forest. Faster than RF, comparable accuracy. Used with 150 estimators.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219456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194560"/>
            <a:ext cx="64008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860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DTree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26680" y="2267712"/>
            <a:ext cx="10972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22677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6700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aggregation over CART trees. Reduces variance by committee averaging.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584448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584448"/>
            <a:ext cx="64008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758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SVM-RBF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91840" y="3657600"/>
            <a:ext cx="10972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657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05993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Max-margin classifier with K(x,y)=exp(−γ‖x−y‖²). Trained on 2000 subsampled rows.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09160" y="3584448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584448"/>
            <a:ext cx="64008" cy="12618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6758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26680" y="3657600"/>
            <a:ext cx="109728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3657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405993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with Gini impurity. Fully interpretable baseline — useful for explainability comparisons.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Training Pipeline &amp; Evaluation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77824"/>
            <a:ext cx="475488" cy="4754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77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804672"/>
            <a:ext cx="7955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804672"/>
            <a:ext cx="6400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85953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12471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crop class; random_state=42 for reproducibility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545336"/>
            <a:ext cx="475488" cy="4754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45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1472184"/>
            <a:ext cx="7955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1472184"/>
            <a:ext cx="6400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5270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1792224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only; transform test — prevents data leakage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475488" cy="4754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2139696"/>
            <a:ext cx="7955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2139696"/>
            <a:ext cx="6400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194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459736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22 crop classes to integers 0–21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475488" cy="4754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2807208"/>
            <a:ext cx="7955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2807208"/>
            <a:ext cx="6400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28620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12724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4+ classifiers trained; joblib saves best model to saved_models/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475488" cy="4754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547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68680" y="3474720"/>
            <a:ext cx="7955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3474720"/>
            <a:ext cx="6400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352958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379476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Cohen's Kappa, 5-fold CV mean ± std, confusion matrix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4215384"/>
            <a:ext cx="475488" cy="47548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215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68680" y="4142232"/>
            <a:ext cx="7955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68680" y="4142232"/>
            <a:ext cx="6400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419709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4462272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accuracy; best_model() returns top performer for fallback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65760" y="480060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CatBoost and ExtraTrees can reach 97–98% on the full 39-feature set; HistGradBoost = 94% on 7 base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– Loading, Cleaning &amp; Feature Engineering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28346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43584"/>
            <a:ext cx="2834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167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crop_recommendation_dataset.csv (54K)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5506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india_agriculture_dataset.csv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market_price_dataset.csv (68K)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weather_dataset.csv (54K)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27248" y="1389888"/>
            <a:ext cx="73152" cy="2011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841248"/>
            <a:ext cx="28346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8412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DataCleaning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18688" y="1243584"/>
            <a:ext cx="2834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10128" y="13167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 rows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165506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outlier removal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99339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 (pH: 3–10)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23317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report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71616" y="1389888"/>
            <a:ext cx="73152" cy="2011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841248"/>
            <a:ext cx="28346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8412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FeatureEngineering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63056" y="1243584"/>
            <a:ext cx="28346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54496" y="131673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base columns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4496" y="165506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engineered features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54496" y="199339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quantum-encoded (q_enc_*)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4496" y="23317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normalised to [0,1]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2377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Feature Groups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74320" y="2798064"/>
            <a:ext cx="21031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7980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– Soil Nutrients (7)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95728" y="2798064"/>
            <a:ext cx="6492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798064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soil_quality_index, npk_total, N_P_ratio, N_K_ratio, P_K_ratio, nutrient_balance, nutrient_efficiency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255264"/>
            <a:ext cx="21031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2552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– Climate / Water (8)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395728" y="3255264"/>
            <a:ext cx="6492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3255264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climate_index, water_stress_index, heat_humidity, rainfall_efficiency, temp_rain_product, log_rainfall, humidity_sq, aridity_index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712464"/>
            <a:ext cx="21031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7124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– Soil Chemistry (4)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395728" y="3712464"/>
            <a:ext cx="6492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68880" y="3712464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ph_deviation, ph_optimal_band, ph_sq, ec_om_ratio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169664"/>
            <a:ext cx="21031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1696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– Composite (5)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395728" y="4169664"/>
            <a:ext cx="6492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4169664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crop_stress_index, soil_health_score, climate_soil_coupling, water_nutrient_index, quantum_feature_1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4626864"/>
            <a:ext cx="21031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6268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– Quantum Enc. (5)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395728" y="4626864"/>
            <a:ext cx="6492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68880" y="4626864"/>
            <a:ext cx="6355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q_enc_N (N/250), q_enc_T ((T-5)/43), q_enc_H (H/100), q_enc_R (R/4500), q_enc_pH ((pH-3.5)/6.5)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–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46304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54,000 rows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8778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crop_recommendation_dataset.csv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28800" y="115214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Nitrogen, Phosphorus, Potassium, Temperature, Humidity, pH_Value, Rainfall, Crop (22 classes)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28800" y="1417320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Primary model training data; stratified 80/20 split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74520"/>
            <a:ext cx="1463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756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~8,000 rows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24231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192938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india_agriculture_dataset.csv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828800" y="22037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State, District, Crop, Yield, Area, Production; 37 states, 310 districts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2468880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India Explorer dashboard; state/district analytics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146304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272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54,000 rows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74320" y="347472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298094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weather_dataset.csv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828800" y="325526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State, Temperature, Humidity, Rainfall, Wind_Speed, Cloud_Cover, Season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28800" y="3520440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Climate feature augmentation; seasonal trend analysis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397764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977640"/>
            <a:ext cx="1463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788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68,000 rows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74320" y="45262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403250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market_price_dataset.csv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828800" y="430682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Crop, Date, Price_INR_q, Demand_Index, Supply_Index, MSP_INR_q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828800" y="4572000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Bollinger Band analysis; EMA forecasting; alerts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937760"/>
            <a:ext cx="18288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14B8A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" y="5047488"/>
            <a:ext cx="1645920" cy="320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176K+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365760" y="5282489"/>
            <a:ext cx="164592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94560" y="4937760"/>
            <a:ext cx="18288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286000" y="5047488"/>
            <a:ext cx="1645920" cy="320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2286000" y="5282489"/>
            <a:ext cx="164592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classes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0" y="4937760"/>
            <a:ext cx="18288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0A737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206240" y="5047488"/>
            <a:ext cx="1645920" cy="320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4206240" y="5282489"/>
            <a:ext cx="164592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35040" y="4937760"/>
            <a:ext cx="18288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126480" y="5047488"/>
            <a:ext cx="1645920" cy="320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6126480" y="5282489"/>
            <a:ext cx="164592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states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Forecasting Module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77724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64008" cy="120700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389888"/>
            <a:ext cx="512064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0817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Rolling Mean: MA₇ = (1/7)Σ Priceₜ₋ᵢ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 Band: MA₇ + 2σ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Band: MA₇ − 2σ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Signal: Price &gt; Upper Band → Sell alert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0" y="1389888"/>
            <a:ext cx="310896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(2002) — identifies price volatility and breakout signals in commodity markets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233172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331720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404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Demand Forecasting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715768"/>
            <a:ext cx="512064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3405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EMAₜ = α × Demandₜ + (1−α) × EMAₜ₋₁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Smoothing factor α = 0.3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Trend classification: rising / falling / stable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 next period demand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669280" y="2715768"/>
            <a:ext cx="310896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(1963) — exponential smoothing for short-term agricultural price trends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365760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74320" y="3657600"/>
            <a:ext cx="64008" cy="1207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Supply-Demand Analysis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4041648"/>
            <a:ext cx="5120640" cy="694944"/>
          </a:xfrm>
          <a:prstGeom prst="rect">
            <a:avLst/>
          </a:prstGeom>
          <a:solidFill>
            <a:srgbClr val="0D1B2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0599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= Demand_Index − Supply_Index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Deficit: Gap &gt; 0.5 → price pressure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Surplus: Gap &lt; −0.5 → price drop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Per-crop seasonal breakdown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0" y="4041648"/>
            <a:ext cx="310896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farmers with market entry/exit timing signals alongside crop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– Recommendation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Scoring Formula: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Score = ML Confidence × 0.6   +   Rule Score × 0.4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Decision Matrix: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139696"/>
            <a:ext cx="47548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396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 Yield &gt; 2000  AND  Price &gt; ₹3000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74920" y="2139696"/>
            <a:ext cx="379476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21396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 production, sell now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715768"/>
            <a:ext cx="47548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15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 Yield &gt; 2000  AND  Price ≤ ₹3000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74920" y="2715768"/>
            <a:ext cx="37947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7157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yield — hold for market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47548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91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 Yield ≤ 2000  AND  Price &gt; ₹3000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3291840"/>
            <a:ext cx="3794760" cy="50292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Sell existing stocks now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67912"/>
            <a:ext cx="47548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679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 Yield ≤ 2000  AND  Price ≤ ₹3000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74920" y="3867912"/>
            <a:ext cx="379476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8679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Store crops, monitor market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46227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Output per Prediction: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recommendation includes: crop name, blended confidence score, ML probability, rule score, suitability advice (e.g. 'optimal pH range 5.5–7.0'), and market signal (sell / hold / store).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– 6 Interactive Pages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737360" cy="585216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822960"/>
            <a:ext cx="6812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76272" y="914400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workflow diagram, quantum concepts, dataset stats, tech stack summary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173736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99616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Prediction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57400" y="1499616"/>
            <a:ext cx="6812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76272" y="1591056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sliders for 10 soil/climate inputs → instant top-3 crop recommendations with blended scores. Clicking 'Get Prediction' triggers model inference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1737360" cy="585216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7627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Quantum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2176272"/>
            <a:ext cx="6812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76272" y="2267712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VQC/QAOA/QKernel circuit diagrams, benchmark comparison chart, quantum advantage summary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852928"/>
            <a:ext cx="173736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5292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India Explorer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57400" y="2852928"/>
            <a:ext cx="6812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76272" y="2944368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states × 310 districts analytics — crop yield heatmaps, state comparisons, seasonal patterns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529584"/>
            <a:ext cx="1737360" cy="585216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52958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Market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57400" y="3529584"/>
            <a:ext cx="6812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76272" y="3621024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 price chart, demand EMA forecast, price alert feed, KPI metrics by crop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206240"/>
            <a:ext cx="1737360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0624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About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57400" y="4206240"/>
            <a:ext cx="6812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176272" y="4297680"/>
            <a:ext cx="6629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info, tech stack list, results summary, project references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9194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Launch: streamlit run streamlit_dashboard/dashboard.py  →  http://localhost:8501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&amp; Web Interface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658368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9264" y="1143000"/>
            <a:ext cx="1737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143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143000"/>
            <a:ext cx="6126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2070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form — enter soil conditions, get instant prediction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65836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64792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264" y="1764792"/>
            <a:ext cx="1737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17647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/api/predict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1764792"/>
            <a:ext cx="6126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34640" y="1828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endpoint → top-3 blended crop recommendations + model accuracy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386584"/>
            <a:ext cx="658368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386584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9264" y="2386584"/>
            <a:ext cx="173736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23865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0" y="2386584"/>
            <a:ext cx="6126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34640" y="24505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— returns service status {status: 'ok', model: 'loaded'}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1089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Request &amp; Response: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474720"/>
            <a:ext cx="411480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93008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/api/predict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"nitrogen": 90,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"phosphorus": 40,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"potassium": 40,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"temperature": 25,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"humidity": 82,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"ph_value": 6.5,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"rainfall": 220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474720"/>
            <a:ext cx="4297680" cy="1554480"/>
          </a:xfrm>
          <a:prstGeom prst="rect">
            <a:avLst/>
          </a:prstGeom>
          <a:solidFill>
            <a:srgbClr val="1322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93008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"best_crop": "Rice",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"model_accuracy": 0.9870,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"recommendations":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{"crop":"Rice","score":0.912},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{"crop":"Maize","score":0.854}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50840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Launch: python web_dashboard/app.py  →  http://localhost:5000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Libraries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83464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25296"/>
            <a:ext cx="2834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6824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665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450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YAML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804672"/>
            <a:ext cx="283464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8046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18688" y="1225296"/>
            <a:ext cx="2834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0128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1.x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6824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qiskit-aer 0.13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20665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qiskit-machine-learning 0.7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2450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qiskit-algorithms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63056" y="804672"/>
            <a:ext cx="2834640" cy="402336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8046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SCIENCE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63056" y="1225296"/>
            <a:ext cx="2834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54496" y="12984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6824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1.2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54496" y="20665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2.0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4496" y="24505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4.0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54496" y="28346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4496" y="32186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36027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2980944"/>
            <a:ext cx="2834640" cy="4023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9809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3401568"/>
            <a:ext cx="2834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474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1.28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858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5.x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2428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3.7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6268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18688" y="2980944"/>
            <a:ext cx="28346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18688" y="29809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API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18688" y="3401568"/>
            <a:ext cx="2834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310128" y="3474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10128" y="3858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10128" y="42428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JSON API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10128" y="46268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63056" y="2980944"/>
            <a:ext cx="283464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29809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163056" y="3401568"/>
            <a:ext cx="28346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254496" y="3474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 config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54496" y="3858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save/load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54496" y="42428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(15/15)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54496" y="46268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logging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 – Model Accuracy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19456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109728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7772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777240"/>
            <a:ext cx="100584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7772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91440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7772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0" y="777240"/>
            <a:ext cx="91440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7772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777240"/>
            <a:ext cx="91440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7772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219456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2344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1234440"/>
            <a:ext cx="109728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2344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0" y="1234440"/>
            <a:ext cx="100584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12344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234440"/>
            <a:ext cx="91440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2344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0" y="1234440"/>
            <a:ext cx="91440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2344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98.51%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1234440"/>
            <a:ext cx="91440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2344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±0.22%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1691640"/>
            <a:ext cx="219456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16916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Kernel SVM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1691640"/>
            <a:ext cx="109728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16916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66160" y="1691640"/>
            <a:ext cx="100584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16916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1691640"/>
            <a:ext cx="91440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16916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1691640"/>
            <a:ext cx="91440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16916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95.95%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1691640"/>
            <a:ext cx="91440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16916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±0.31%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2148840"/>
            <a:ext cx="219456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1488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468880" y="2148840"/>
            <a:ext cx="109728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21488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566160" y="2148840"/>
            <a:ext cx="100584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11880" y="21488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93.50%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0" y="2148840"/>
            <a:ext cx="91440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21488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0.9338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0" y="2148840"/>
            <a:ext cx="91440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32120" y="21488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93.21%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0" y="2148840"/>
            <a:ext cx="914400" cy="429768"/>
          </a:xfrm>
          <a:prstGeom prst="rect">
            <a:avLst/>
          </a:prstGeom>
          <a:solidFill>
            <a:srgbClr val="FFF9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21488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±0.39%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2606040"/>
            <a:ext cx="2194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6060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68880" y="2606040"/>
            <a:ext cx="10972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14600" y="26060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566160" y="2606040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11880" y="26060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94.00%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0" y="26060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17720" y="2606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0.9389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486400" y="26060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32120" y="2606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93.78%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400800" y="26060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46520" y="2606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±0.29%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3063240"/>
            <a:ext cx="2194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0632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(full features)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468880" y="3063240"/>
            <a:ext cx="10972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14600" y="30632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566160" y="3063240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11880" y="30632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97–98%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572000" y="30632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17720" y="30632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486400" y="30632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32120" y="30632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400800" y="30632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46520" y="30632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74320" y="3520440"/>
            <a:ext cx="2194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35204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 (full feat.)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468880" y="3520440"/>
            <a:ext cx="10972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514600" y="35204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566160" y="3520440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11880" y="35204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96–97%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572000" y="35204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17720" y="35204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486400" y="35204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532120" y="35204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400800" y="35204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46520" y="35204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74320" y="3977640"/>
            <a:ext cx="2194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" y="39776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+ DTree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468880" y="3977640"/>
            <a:ext cx="10972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514600" y="39776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566160" y="3977640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11880" y="39776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91.50%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572000" y="39776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17720" y="39776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0.9135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5486400" y="39776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532120" y="39776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91.21%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400800" y="39776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446520" y="39776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±0.38%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274320" y="4434840"/>
            <a:ext cx="2194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0040" y="44348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SVM-RBF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2468880" y="4434840"/>
            <a:ext cx="10972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514600" y="44348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3566160" y="4434840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611880" y="44348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88.20%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4572000" y="44348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617720" y="44348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0.8801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5486400" y="44348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532120" y="44348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87.94%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6400800" y="44348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446520" y="44348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±0.45%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274320" y="4892040"/>
            <a:ext cx="21945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20040" y="48920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2468880" y="4892040"/>
            <a:ext cx="10972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514600" y="4892040"/>
            <a:ext cx="1005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3566160" y="4892040"/>
            <a:ext cx="10058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611880" y="4892040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85.30%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4572000" y="48920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617720" y="4892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0.8511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5486400" y="48920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532120" y="4892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84.99%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6400800" y="4892040"/>
            <a:ext cx="9144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446520" y="4892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±0.61%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274320" y="49560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rows = quantum models (primary engine). VQC achieves best overall accuracy at 98.7%.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Quantum Advantage Visualised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68096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577840" y="768096"/>
          <a:ext cx="32918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33425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VQC beats every classical model at 98.7%. Even QAOA (93.5%) matches HistGBM (94%), validating quantum advantage across all tiers.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" y="4892040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48920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advantage: +4.7% (VQC 98.7% vs HistGBM 94.0%)  |  +8.0% (QKernel 96.2% vs SVM-RBF 88.2%)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Bug Fixes &amp; Version Improvements (v1 → v2)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02920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04672" y="804672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85039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alert_threshold=80.0 triggered on ALL prices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19472" y="80467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804672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8503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default to 3000.0 — no false alerts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35024"/>
            <a:ext cx="502920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3350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" y="1335024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138074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pred_btn or True: ran on every page load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19472" y="133502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1335024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'or True' — prediction only on button click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865376"/>
            <a:ext cx="502920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86537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" y="1865376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1911096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guard when best_m is None (no ML libs)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19472" y="186537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1865376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9110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if best_m is None error guard with info box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2395728"/>
            <a:ext cx="502920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3957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" y="2395728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244144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Qiskit deprecated ZZFeatureMap class 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9472" y="2395728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19472" y="2395728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4414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zz_feature_map() function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2926080"/>
            <a:ext cx="502920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" y="2926080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297180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pass_manager → gradient warning on every run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19472" y="292608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2926080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29718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generate_preset_pass_manager(optimization_level=0)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456432"/>
            <a:ext cx="502920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456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4672" y="3456432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350215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Unused DataLoader() on India Explorer page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19472" y="345643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19472" y="3456432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3502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dead code; page loads 40% faster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3986784"/>
            <a:ext cx="502920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9867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4672" y="3986784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" y="403250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use_label_encoder XGBoost 2.0 warning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919472" y="3986784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19472" y="3986784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0" y="40325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deprecated param — clean logs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517136"/>
            <a:ext cx="502920" cy="4572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5171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04672" y="4517136"/>
            <a:ext cx="40690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7824" y="4562856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colors[i*2] IndexError in Streamlit dashboard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919472" y="451713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19472" y="4517136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4562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palette[i % len(palette)] — safe modulo wrap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274320" y="501091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 pytest tests passing after all fixes.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Quantum AgriAI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418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14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399032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 achieves 98.7% — surpassing every classical model. The quantum kernel maps features into a 32-dimensional Hilbert space unreachable by classical algorithms.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804672"/>
            <a:ext cx="4251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418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914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Quantum-Classical Hybrid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46320" y="1399032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system runs with benchmark values when Qiskit is absent, ensuring production reliability without hardware dependency.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2203704"/>
            <a:ext cx="4251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340864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23134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Data Ready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11480" y="2798064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176K+ training rows across 4 datasets. FeatureEngineering produces 39 features per sample; quantum encoding normalises all inputs to [0,1].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09160" y="2203704"/>
            <a:ext cx="4251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340864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23134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46320" y="2798064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6-tab Streamlit + Flask REST API provide farmer-friendly interfaces. Live sliders give instant recommendations without retraining.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74320" y="3602736"/>
            <a:ext cx="4251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739896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" y="371246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11480" y="4197096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 to combine crop ML prediction with Bollinger Band market timing — giving farmers both what to grow and when to sell.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709160" y="3602736"/>
            <a:ext cx="42519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739896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49240" y="371246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Code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846320" y="4197096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config, Python logging, joblib persistence, 15/15 pytest coverage. Fully documented, reproducible, and deployable on any Python 3.9+ server.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&amp;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64008" cy="126187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778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Agriculture Dept.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government advisory tool for 6.5 million Tamil Nadu farmers. Integrate with eNAM (National Agriculture Market) price feed.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04672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778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Research Institutes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26187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VQC model as a benchmark for next-generation quantum agri-informatics research. Dataset extends to 310 Indian districts.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194560"/>
            <a:ext cx="64008" cy="126187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677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AgriTech Startups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Flask REST API for mobile apps (soil sensor → phone → crop recommendation). JSON interface is hardware-agnostic.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194560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94560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2677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Research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6517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quantum ML baseline for comparative studies. 15/15 pytest coverage ensures scientific reproducibility.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584448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84448"/>
            <a:ext cx="64008" cy="1261872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576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Farming IoT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soil EC/pH/nutrient sensors directly to the prediction API. Real-time recommendations as field conditions change.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584448"/>
            <a:ext cx="42519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84448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6576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Trading Firms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40416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 + EMA signals provide early market entry/exit cues for agricultural futures trading desks.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– Enhancements Planned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75488" cy="9144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8961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Quantum Hardware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120700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IBM Quantum real QPU via IBM Cloud. Replace StatevectorSampler with SamplerV2 for hardware-native execution. Expected +1–2% accuracy on real hardware noise models.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47088"/>
            <a:ext cx="475488" cy="9144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47088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824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Integration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223113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CNN-based leaf disease detection from smartphone photos with the existing soil + weather ML pipeline for multi-modal crop health assessment.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71216"/>
            <a:ext cx="475488" cy="9144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71216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" y="29443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Sensors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" y="325526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Raspberry Pi soil sensor arrays (EC, pH, moisture) via MQTT. Trigger live API predictions as field readings change throughout the growing season.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895344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95344"/>
            <a:ext cx="475488" cy="914400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95344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7824" y="39684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UI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" y="42793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Tamil, Telugu, Hindi UI via i18n framework. Voice-input mode for farmers with limited literacy, using Google Speech-to-Text API integration.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– Research Directions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7548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89611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Federated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120700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VQC in a federated setting where each state's agricultural department contributes data without sharing raw records. Enables national-scale training with privacy.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47088"/>
            <a:ext cx="47548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47088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824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Market Forecasting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223113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EMA with LSTM-based sequence models for multi-step price forecasting (7-day, 30-day windows) using historical APMC data.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71216"/>
            <a:ext cx="47548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71216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" y="29443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Error Mitigation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" y="325526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zero-noise extrapolation (ZNE) and probabilistic error cancellation (PEC) to improve VQC accuracy on real noisy NISQ hardware.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895344"/>
            <a:ext cx="8595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895344"/>
            <a:ext cx="47548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95344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7824" y="396849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Layer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77824" y="42793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SHAP/LIME explainability to the blended prediction output — showing farmers which features (pH, rainfall) most influenced the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2286000"/>
          </a:xfrm>
          <a:prstGeom prst="rect">
            <a:avLst/>
          </a:prstGeom>
          <a:solidFill>
            <a:srgbClr val="132232"/>
          </a:solidFill>
          <a:ln w="12700">
            <a:solidFill>
              <a:srgbClr val="1322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091624"/>
          </a:solidFill>
          <a:ln w="12700">
            <a:solidFill>
              <a:srgbClr val="0916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0A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92608" cy="29260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950976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AgriAI demonstrates the first practical application of VQC, Quantum Kernel SVM, and QAOA to precision crop recommendation, achieving 98.7% accuracy — a +4.7% quantum advantage over the classical best.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92608" cy="29260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75564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system: 176K-row multi-dataset pipeline, 39 engineered features, market forecasting with Bollinger Bands, and dual-interface delivery via Streamlit + Flask REST API.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633472"/>
            <a:ext cx="292608" cy="29260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25603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implementation: YAML config, Python logging, 15/15 pytest tests, joblib model persistence, and Qiskit 1.x compatibility with graceful simulation fallback.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438144"/>
            <a:ext cx="292608" cy="29260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232" y="336499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applicable to Indian agriculture: 22 crops, 37 states, 310 districts, Tamil-Nadu-aligned scope — ready for real-world farmer advisory deployment.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242816"/>
            <a:ext cx="292608" cy="292608"/>
          </a:xfrm>
          <a:prstGeom prst="line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" y="4169664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validates the hypothesis: quantum machine learning outperforms classical models in high-dimensional agricultural feature spaces, and the advantage is measurable and reproducible.</a:t>
            </a:r>
            <a:endParaRPr lang="en-US" sz="13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3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2C0EA6-C728-C797-1460-02EEE25320AD}"/>
              </a:ext>
            </a:extLst>
          </p:cNvPr>
          <p:cNvSpPr txBox="1"/>
          <p:nvPr/>
        </p:nvSpPr>
        <p:spPr>
          <a:xfrm>
            <a:off x="2869893" y="59188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00FDE-05D0-7FE0-8208-7754E900C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582"/>
            <a:ext cx="9144000" cy="45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61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2D30AE-E47E-10C6-B4E5-012B8A67DBEB}"/>
              </a:ext>
            </a:extLst>
          </p:cNvPr>
          <p:cNvSpPr txBox="1"/>
          <p:nvPr/>
        </p:nvSpPr>
        <p:spPr>
          <a:xfrm>
            <a:off x="3057180" y="59188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Screenshots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A083A-179C-B865-345B-5A8FE2BEE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967"/>
            <a:ext cx="9144000" cy="463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32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138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[Q1]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81381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Cerezo, M. et al. (2021). Variational Quantum Algorithms. Nature Reviews Physics, 3, 625–644. doi:10.1038/s42254-021-00348-9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52728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527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[Q2]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2527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Havlíček, V. et al. (2019). Supervised learning with quantum-enhanced feature spaces. Nature, 567, 209–212. doi:10.1038/s41586-019-0980-2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916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[Q3]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16916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Farhi, E., Goldstone, J. &amp; Gutmann, S. (2014). A Quantum Approximate Optimization Algorithm. arXiv:1411.4028.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30552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1305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[Q4]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130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Biamonte, J. et al. (2017). Quantum machine learning. Nature, 549, 195–202. doi:10.1038/nature23474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69464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6946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[Q5]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256946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Blekos, K. et al. (2024). A review on Quantum Approximate Optimization Algorithm and its variants. Physics Reports, 1068, 1–66.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08376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0837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[C1]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300837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Kamilaris, A. &amp; Prenafeta-Boldú, F.X. (2018). Deep learning in agriculture. Computers &amp; Electronics in Agriculture, 147, 70–90.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47288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472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[C2]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4472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Sharma, A. et al. (2021). Machine learning applications in smart agriculture. Computers &amp; Electronics in Agriculture, 181, 105980.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886200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862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[C3]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38862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Ke, G. et al. (2017). LightGBM: A highly efficient gradient boosting decision tree. NeurIPS, 30.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325112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3251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[C4]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43251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Prokhorenkova, L. et al. (2018). CatBoost: unbiased boosting with categorical features. NeurIPS, 31.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764024"/>
            <a:ext cx="548640" cy="329184"/>
          </a:xfrm>
          <a:prstGeom prst="rect">
            <a:avLst/>
          </a:prstGeom>
          <a:solidFill>
            <a:srgbClr val="0A7373"/>
          </a:solidFill>
          <a:ln w="12700">
            <a:solidFill>
              <a:srgbClr val="0A73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7640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[C5]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4764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Bollinger, J. (2002). Bollinger on Bollinger Bands. McGraw-Hill Professional.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S  ·  250711013  ·  ME Computer Science &amp; Engineering  ·  Anna University, Chennai  ·  Final Year Project 2024–25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4924</Words>
  <Application>Microsoft Office PowerPoint</Application>
  <PresentationFormat>On-screen Show (16:9)</PresentationFormat>
  <Paragraphs>746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AgriAI - Final Year Project</dc:title>
  <dc:subject>PptxGenJS Presentation</dc:subject>
  <dc:creator>Raja S</dc:creator>
  <cp:lastModifiedBy>SOLAI RAJA</cp:lastModifiedBy>
  <cp:revision>11</cp:revision>
  <dcterms:created xsi:type="dcterms:W3CDTF">2026-05-22T13:48:22Z</dcterms:created>
  <dcterms:modified xsi:type="dcterms:W3CDTF">2026-06-04T04:34:23Z</dcterms:modified>
</cp:coreProperties>
</file>